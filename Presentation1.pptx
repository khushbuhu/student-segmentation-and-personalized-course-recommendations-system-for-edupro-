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1674"/>
    <a:srgbClr val="7B1FA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C0DC3-DB3D-48CA-BC89-DDD2F6AC62AD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4E9DB-1EA2-4B96-A5BC-8AA0BE6D9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703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84E9DB-1EA2-4B96-A5BC-8AA0BE6D98F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366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67DF1-AC6B-01A8-2ADE-A901938FA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DA7FAC-1150-5736-2809-A417DFE01B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95B70-7A71-2FF1-244F-BE6B4BFD0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E2209-8292-4D21-BA9B-E6D10D281AF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DE99B-DB69-E484-06DE-37353101E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90EDE-F916-F84E-98DD-136F310A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D812-68E5-43E2-A50B-DF08A0747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033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22805-77CB-1BED-AA5C-FD8B4ACDE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7A0B9-AFA8-26F0-EB35-66873A460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0B07D-262E-C6FB-D1D8-AD77F4819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E2209-8292-4D21-BA9B-E6D10D281AF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B33FD-94AF-37A7-4A15-6FCC0492A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CEF24-CE8F-82CE-5AE1-31FBD062D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D812-68E5-43E2-A50B-DF08A0747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360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3B154-1927-A9CD-CE7B-DAA2D5994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E1701-7F91-2B48-1D68-E9B47F2F1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5668E-2859-8D66-D1CC-A1B1A6200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E2209-8292-4D21-BA9B-E6D10D281AF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9EE50-0104-D9DE-F969-DFFAB4E4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8747A-3092-4A99-19CB-DF317109E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D812-68E5-43E2-A50B-DF08A0747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585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CBD80-354D-4D02-5150-D7C62CD85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72069-B14B-31FF-D5E8-BB68D5EE90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DBCAB-9C8C-405B-F6E7-D015206C7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7EB06-316C-0FCD-FBF3-4565AAF72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E2209-8292-4D21-BA9B-E6D10D281AF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2AFC2-2D13-7AD9-B42E-443B7A046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453D1-2E72-45EA-82F6-93A0CABBB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D812-68E5-43E2-A50B-DF08A0747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003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5432-9C89-50CD-9971-15D43CB2B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B8E64-7CAC-82DA-E754-EEBD726C8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0F024-F59F-4B8D-4EC6-056DBC46F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3EE059-90EA-A111-AB50-82BA6A0893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964C6F-F5B8-7AD5-B641-69E829891E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804EA-A44E-C77C-9D6F-D2A5AB9DF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E2209-8292-4D21-BA9B-E6D10D281AF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9F5BFE-4ECE-1E01-13FD-6E20CD9D6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5B3B42-ED12-EBD3-CB2C-36AB20160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D812-68E5-43E2-A50B-DF08A0747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347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83E4A-97C1-D1C0-60CB-B0C934E2C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E74918-60B7-3247-5B39-F7D6D818E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E2209-8292-4D21-BA9B-E6D10D281AF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06712-456E-CB54-E10B-64B2B7D2C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95C48-A95D-F4B8-BCD6-1C056B056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D812-68E5-43E2-A50B-DF08A0747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827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20AFC5-4C60-C516-ADAB-9B62D7FB2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E2209-8292-4D21-BA9B-E6D10D281AF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78ACCA-208A-9585-4F81-3E631D474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EC1C6-9AA2-3032-7307-97FB0A1C9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D812-68E5-43E2-A50B-DF08A0747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06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CA20D-244C-6BA1-2EF7-DA9750360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C835-8754-6063-726E-E6616C6DE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C3692-23A1-2904-89B0-06A9E51B1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9891C-7260-7CFC-0A60-C06FD3302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E2209-8292-4D21-BA9B-E6D10D281AF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9B441-2B38-1CDC-1BB8-A9BEBC89D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3B3D0-1058-F292-09B7-D0E837E0D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D812-68E5-43E2-A50B-DF08A0747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865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037F2-5748-ECBD-3C1F-63422E90A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8FFD9B-A7C0-B962-23F6-2A64349708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E48C1-88B6-2FC6-E0E9-A2DD3B0D8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E53EC-2D30-30DE-FDA8-50C34B3D0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E2209-8292-4D21-BA9B-E6D10D281AF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25FEA-0145-67A4-7D9E-0C3037089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EFBCC-2A46-1DD8-F5CE-18FE469F9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D812-68E5-43E2-A50B-DF08A0747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730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4575F-DD88-162B-34EC-C7F5AC99F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BDDAB-E763-3149-16CB-7C3CAA328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986F1-9630-DC58-7D74-C0C74EB20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E2209-8292-4D21-BA9B-E6D10D281AF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9045E-CD73-0ACD-66E3-B570EECDE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F3D30-41EB-D1DB-81FE-893ADE630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D812-68E5-43E2-A50B-DF08A0747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014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7DC281-4A20-D671-1CA3-E34E51E6DE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60E42-A2BA-DB3E-993A-FD991DA7C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9C285-1B51-4FA1-18FD-C564D01BA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E2209-8292-4D21-BA9B-E6D10D281AF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35A09-27B4-CDBC-3D8D-9F930209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A6808-9B80-8F4C-B32D-780FA16D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3D812-68E5-43E2-A50B-DF08A0747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186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E636B1-41C2-2E24-B4C5-794040D24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EA755-1CF2-B66B-C92D-FD3DBEE28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E1060-D577-03DB-B379-E555CF1F90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E2209-8292-4D21-BA9B-E6D10D281AF8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4A309-005F-9BE7-FE72-D4CA090DB0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676BC-5409-3824-1A1C-55E4EB1E7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3D812-68E5-43E2-A50B-DF08A07470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226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microsoft.com/office/2007/relationships/hdphoto" Target="../media/hdphoto4.wdp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6FE6C5-2AE9-C759-89FC-995A7F89BE73}"/>
              </a:ext>
            </a:extLst>
          </p:cNvPr>
          <p:cNvSpPr txBox="1"/>
          <p:nvPr/>
        </p:nvSpPr>
        <p:spPr>
          <a:xfrm>
            <a:off x="2862942" y="188464"/>
            <a:ext cx="75982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571674"/>
                </a:solidFill>
              </a:rPr>
              <a:t>Student Segmentation and Personalized</a:t>
            </a:r>
          </a:p>
          <a:p>
            <a:r>
              <a:rPr lang="en-IN" sz="3600" b="1" dirty="0">
                <a:solidFill>
                  <a:srgbClr val="571674"/>
                </a:solidFill>
              </a:rPr>
              <a:t>Course Recommendation System for </a:t>
            </a:r>
            <a:r>
              <a:rPr lang="en-IN" sz="3600" b="1" dirty="0" err="1">
                <a:solidFill>
                  <a:srgbClr val="571674"/>
                </a:solidFill>
              </a:rPr>
              <a:t>EduPro</a:t>
            </a:r>
            <a:endParaRPr lang="en-IN" sz="3600" b="1" dirty="0">
              <a:solidFill>
                <a:srgbClr val="57167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ECA7DE-F738-067C-40CF-4A59C0A66B63}"/>
              </a:ext>
            </a:extLst>
          </p:cNvPr>
          <p:cNvSpPr txBox="1"/>
          <p:nvPr/>
        </p:nvSpPr>
        <p:spPr>
          <a:xfrm>
            <a:off x="3048000" y="4194407"/>
            <a:ext cx="683622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571674"/>
                </a:solidFill>
              </a:rPr>
              <a:t>Presented By:</a:t>
            </a:r>
          </a:p>
          <a:p>
            <a:r>
              <a:rPr lang="en-IN" dirty="0">
                <a:solidFill>
                  <a:srgbClr val="571674"/>
                </a:solidFill>
              </a:rPr>
              <a:t>Khushbu Sahu</a:t>
            </a:r>
          </a:p>
          <a:p>
            <a:endParaRPr lang="en-IN" dirty="0">
              <a:solidFill>
                <a:srgbClr val="571674"/>
              </a:solidFill>
            </a:endParaRPr>
          </a:p>
          <a:p>
            <a:r>
              <a:rPr lang="en-IN" dirty="0">
                <a:solidFill>
                  <a:srgbClr val="571674"/>
                </a:solidFill>
              </a:rPr>
              <a:t>Tools:</a:t>
            </a:r>
          </a:p>
          <a:p>
            <a:r>
              <a:rPr lang="en-IN" dirty="0">
                <a:solidFill>
                  <a:srgbClr val="571674"/>
                </a:solidFill>
              </a:rPr>
              <a:t>Excel            | Power Query               | Power BI          | DAX</a:t>
            </a:r>
          </a:p>
        </p:txBody>
      </p:sp>
      <p:pic>
        <p:nvPicPr>
          <p:cNvPr id="3074" name="Picture 2" descr="Microsoft Excel Icon SVG Vector &amp; PNG Free Download | UXWing">
            <a:extLst>
              <a:ext uri="{FF2B5EF4-FFF2-40B4-BE49-F238E27FC236}">
                <a16:creationId xmlns:a16="http://schemas.microsoft.com/office/drawing/2014/main" id="{98DDDDB8-562F-1777-D67B-95256422C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2024" y="5352641"/>
            <a:ext cx="584974" cy="387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10 Things I Wish to See Coming Soon With the Power Query">
            <a:extLst>
              <a:ext uri="{FF2B5EF4-FFF2-40B4-BE49-F238E27FC236}">
                <a16:creationId xmlns:a16="http://schemas.microsoft.com/office/drawing/2014/main" id="{DFE2A7E2-A59E-0231-2AF3-A083735E3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916" y="5352641"/>
            <a:ext cx="740228" cy="306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ower BI Icon SVG Vector &amp; PNG Free Download | UXWing">
            <a:extLst>
              <a:ext uri="{FF2B5EF4-FFF2-40B4-BE49-F238E27FC236}">
                <a16:creationId xmlns:a16="http://schemas.microsoft.com/office/drawing/2014/main" id="{FDF68A68-4388-E8EB-2E03-5B2D11694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920" y="5352640"/>
            <a:ext cx="412784" cy="306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3343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27424F-2FB4-BC64-2179-EACB253F2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8EA8BE-8A43-D39F-33AF-9E004C363DA8}"/>
              </a:ext>
            </a:extLst>
          </p:cNvPr>
          <p:cNvSpPr txBox="1"/>
          <p:nvPr/>
        </p:nvSpPr>
        <p:spPr>
          <a:xfrm>
            <a:off x="2220684" y="16367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Business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C76C8D-6217-8C61-16B5-F995226E12E1}"/>
              </a:ext>
            </a:extLst>
          </p:cNvPr>
          <p:cNvSpPr txBox="1"/>
          <p:nvPr/>
        </p:nvSpPr>
        <p:spPr>
          <a:xfrm>
            <a:off x="2220684" y="922624"/>
            <a:ext cx="8610601" cy="7432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/>
              <a:t>Online learning platforms have rapidly expanded over the past decade, offering flexible education opportunities to learners across different geographic .</a:t>
            </a: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/>
              <a:t>These platforms provide access to courses spanning diverse subject areas and skill levels, enabling learners to pursue professional development, academic enrichment, and personal interests. </a:t>
            </a: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 err="1"/>
              <a:t>EduPro</a:t>
            </a:r>
            <a:r>
              <a:rPr lang="en-US" sz="2000" dirty="0"/>
              <a:t>, an online learning platform, collects substantial data related to learners, courses, and enrollments. However, without systematic analysis, this data remains underutilized</a:t>
            </a:r>
            <a:r>
              <a:rPr lang="en-US" sz="2400" dirty="0"/>
              <a:t>.</a:t>
            </a:r>
          </a:p>
          <a:p>
            <a:pPr algn="just">
              <a:spcAft>
                <a:spcPts val="1200"/>
              </a:spcAft>
            </a:pPr>
            <a:endParaRPr lang="en-US" sz="24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 err="1"/>
              <a:t>EduPro</a:t>
            </a:r>
            <a:r>
              <a:rPr lang="en-US" sz="2000" dirty="0"/>
              <a:t> currently faces: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Learners struggle to discover relevant content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Engagement and retention opportunities are lost. Limited understanding of learner behavior patterns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No structured learner segmentation framework</a:t>
            </a: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endParaRPr lang="en-US" sz="2400" dirty="0"/>
          </a:p>
          <a:p>
            <a:pPr>
              <a:spcAft>
                <a:spcPts val="1200"/>
              </a:spcAft>
            </a:pPr>
            <a:endParaRPr lang="en-US" sz="2400" dirty="0"/>
          </a:p>
          <a:p>
            <a:pPr>
              <a:spcAft>
                <a:spcPts val="1200"/>
              </a:spcAft>
            </a:pPr>
            <a:endParaRPr lang="en-US" sz="2400" b="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96313-1518-43FB-CAA3-7FA004B35233}"/>
              </a:ext>
            </a:extLst>
          </p:cNvPr>
          <p:cNvSpPr txBox="1"/>
          <p:nvPr/>
        </p:nvSpPr>
        <p:spPr>
          <a:xfrm>
            <a:off x="2220684" y="404987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P</a:t>
            </a:r>
            <a:r>
              <a:rPr lang="en-IN" sz="3200" b="1" dirty="0"/>
              <a:t>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996069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AECF2C-58BD-2EF3-9A1F-DF9DFF5EC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ED788A-BEC8-FA17-9ABF-63876AE05797}"/>
              </a:ext>
            </a:extLst>
          </p:cNvPr>
          <p:cNvSpPr txBox="1"/>
          <p:nvPr/>
        </p:nvSpPr>
        <p:spPr>
          <a:xfrm>
            <a:off x="2013856" y="25076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O</a:t>
            </a:r>
            <a:r>
              <a:rPr lang="en-IN" sz="3200" b="1" dirty="0" err="1"/>
              <a:t>bjectives</a:t>
            </a:r>
            <a:endParaRPr lang="en-I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456D9D-8730-32FD-59D3-8ABCEF0FDA36}"/>
              </a:ext>
            </a:extLst>
          </p:cNvPr>
          <p:cNvSpPr txBox="1"/>
          <p:nvPr/>
        </p:nvSpPr>
        <p:spPr>
          <a:xfrm>
            <a:off x="1567540" y="994007"/>
            <a:ext cx="10254345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This study aims to analyze learner demographics and enrollment patterns on </a:t>
            </a:r>
            <a:r>
              <a:rPr lang="en-US" sz="2000" dirty="0" err="1"/>
              <a:t>EduPro</a:t>
            </a:r>
            <a:r>
              <a:rPr lang="en-US" sz="2000" dirty="0"/>
              <a:t>. The main objectives include:</a:t>
            </a:r>
          </a:p>
          <a:p>
            <a:endParaRPr lang="en-US" sz="20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To examine the demographic distribution of learners across the platform.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To analyze course enrollment trends across different age groups.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To identify gender-based differences in course selection behavior.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To determine the most popular course categories and levels.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To visualize these insights through an interactive analytical dashboard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30324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A52A46-A540-9A9B-05A8-0259D1101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C6529C-4034-AAD4-40C9-7584994F7E0C}"/>
              </a:ext>
            </a:extLst>
          </p:cNvPr>
          <p:cNvSpPr txBox="1"/>
          <p:nvPr/>
        </p:nvSpPr>
        <p:spPr>
          <a:xfrm>
            <a:off x="2090056" y="196336"/>
            <a:ext cx="72716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Methodology and Dataset Overview</a:t>
            </a:r>
            <a:endParaRPr lang="en-I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342404-4A7A-49B9-BE9E-F9947EFE9731}"/>
              </a:ext>
            </a:extLst>
          </p:cNvPr>
          <p:cNvSpPr txBox="1"/>
          <p:nvPr/>
        </p:nvSpPr>
        <p:spPr>
          <a:xfrm>
            <a:off x="1752600" y="781111"/>
            <a:ext cx="10134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analysis utilizes four primary datasets provided by the </a:t>
            </a:r>
            <a:r>
              <a:rPr lang="en-US" sz="2000" dirty="0" err="1"/>
              <a:t>EduPro</a:t>
            </a:r>
            <a:r>
              <a:rPr lang="en-US" sz="2000" dirty="0"/>
              <a:t> platform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A9B6A31-0712-F598-D626-BA22A4F02A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714142"/>
              </p:ext>
            </p:extLst>
          </p:nvPr>
        </p:nvGraphicFramePr>
        <p:xfrm>
          <a:off x="1839687" y="1365886"/>
          <a:ext cx="8686800" cy="236941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3519069103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469620853"/>
                    </a:ext>
                  </a:extLst>
                </a:gridCol>
              </a:tblGrid>
              <a:tr h="473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9286545"/>
                  </a:ext>
                </a:extLst>
              </a:tr>
              <a:tr h="473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Demographics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993879"/>
                  </a:ext>
                </a:extLst>
              </a:tr>
              <a:tr h="473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316350"/>
                  </a:ext>
                </a:extLst>
              </a:tr>
              <a:tr h="473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Teachers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Instructor Info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734166"/>
                  </a:ext>
                </a:extLst>
              </a:tr>
              <a:tr h="473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Enrolment History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642937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EB64116-C2EC-D9E8-46DA-F4E30BAA9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946081"/>
              </p:ext>
            </p:extLst>
          </p:nvPr>
        </p:nvGraphicFramePr>
        <p:xfrm>
          <a:off x="1839687" y="3735296"/>
          <a:ext cx="8686800" cy="56605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686800">
                  <a:extLst>
                    <a:ext uri="{9D8B030D-6E8A-4147-A177-3AD203B41FA5}">
                      <a16:colId xmlns:a16="http://schemas.microsoft.com/office/drawing/2014/main" val="3578579011"/>
                    </a:ext>
                  </a:extLst>
                </a:gridCol>
              </a:tblGrid>
              <a:tr h="566057">
                <a:tc>
                  <a:txBody>
                    <a:bodyPr/>
                    <a:lstStyle/>
                    <a:p>
                      <a:r>
                        <a:rPr lang="en-US" dirty="0"/>
                        <a:t>Learner Profile                                                         User level analytical layer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239964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FA045F1-088B-55C3-B1C0-FFDB2247F91A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6183087" y="3537857"/>
            <a:ext cx="0" cy="7634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DA2428B-470D-137C-2CF1-624C2DA681CC}"/>
              </a:ext>
            </a:extLst>
          </p:cNvPr>
          <p:cNvSpPr txBox="1"/>
          <p:nvPr/>
        </p:nvSpPr>
        <p:spPr>
          <a:xfrm>
            <a:off x="1839686" y="4599216"/>
            <a:ext cx="88609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Learner Profile table was created as a user-level analytical layer to support segmentation and personalized recommendations.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9959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527AE1-10C5-0C86-239F-6E46F83B2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242711-2601-DB98-8E29-299DC5D938D9}"/>
              </a:ext>
            </a:extLst>
          </p:cNvPr>
          <p:cNvSpPr txBox="1"/>
          <p:nvPr/>
        </p:nvSpPr>
        <p:spPr>
          <a:xfrm>
            <a:off x="2100942" y="196336"/>
            <a:ext cx="72716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Data Cleaning</a:t>
            </a:r>
            <a:endParaRPr lang="en-I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AF4672-90EB-8421-46ED-FA548FF2DE82}"/>
              </a:ext>
            </a:extLst>
          </p:cNvPr>
          <p:cNvSpPr txBox="1"/>
          <p:nvPr/>
        </p:nvSpPr>
        <p:spPr>
          <a:xfrm>
            <a:off x="2100942" y="781111"/>
            <a:ext cx="7032172" cy="3274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/>
              <a:t>Data Preparation Process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000" dirty="0"/>
              <a:t>✔ Removed inconsistencies and validated records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000" dirty="0"/>
              <a:t>✔ Standardized data types and formats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000" dirty="0"/>
              <a:t>✔ Checked for duplicates and missing values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000" dirty="0"/>
              <a:t>✔ Created relationships between tables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000" dirty="0"/>
              <a:t>✔ Developed learner-level features for segmentation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000" dirty="0"/>
              <a:t>✔ Optimized dataset using Power Query and DAX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C220D4-11B8-37B1-372C-7CF217BA08CE}"/>
              </a:ext>
            </a:extLst>
          </p:cNvPr>
          <p:cNvSpPr txBox="1"/>
          <p:nvPr/>
        </p:nvSpPr>
        <p:spPr>
          <a:xfrm>
            <a:off x="2100942" y="4178451"/>
            <a:ext cx="609600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/>
              <a:t>Data Transformation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Used Power Query for preprocessing.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Optimized data model for reporting and analysis.</a:t>
            </a:r>
          </a:p>
        </p:txBody>
      </p:sp>
    </p:spTree>
    <p:extLst>
      <p:ext uri="{BB962C8B-B14F-4D97-AF65-F5344CB8AC3E}">
        <p14:creationId xmlns:p14="http://schemas.microsoft.com/office/powerpoint/2010/main" val="602307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B908A2-9E2F-5A35-B354-42A0E7FCD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BE026-184A-D093-2CFF-FF23631891F3}"/>
              </a:ext>
            </a:extLst>
          </p:cNvPr>
          <p:cNvSpPr txBox="1"/>
          <p:nvPr/>
        </p:nvSpPr>
        <p:spPr>
          <a:xfrm>
            <a:off x="2100942" y="196336"/>
            <a:ext cx="72716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Data Model</a:t>
            </a:r>
            <a:endParaRPr lang="en-IN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CF346-F06D-493E-7A78-6E561B33B1D6}"/>
              </a:ext>
            </a:extLst>
          </p:cNvPr>
          <p:cNvSpPr txBox="1"/>
          <p:nvPr/>
        </p:nvSpPr>
        <p:spPr>
          <a:xfrm>
            <a:off x="2100942" y="945607"/>
            <a:ext cx="6096000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Users → Transactions via </a:t>
            </a:r>
            <a:r>
              <a:rPr lang="en-IN" sz="2000" dirty="0">
                <a:solidFill>
                  <a:srgbClr val="571674"/>
                </a:solidFill>
              </a:rPr>
              <a:t>user ID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Courses → Transactions via </a:t>
            </a:r>
            <a:r>
              <a:rPr lang="en-IN" sz="2000" dirty="0">
                <a:solidFill>
                  <a:srgbClr val="571674"/>
                </a:solidFill>
              </a:rPr>
              <a:t>course ID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Teachers → Transactions via </a:t>
            </a:r>
            <a:r>
              <a:rPr lang="en-IN" sz="2000" dirty="0">
                <a:solidFill>
                  <a:srgbClr val="571674"/>
                </a:solidFill>
              </a:rPr>
              <a:t>teachers ID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Users → Learner Profile via </a:t>
            </a:r>
            <a:r>
              <a:rPr lang="en-IN" sz="2000" dirty="0">
                <a:solidFill>
                  <a:srgbClr val="571674"/>
                </a:solidFill>
              </a:rPr>
              <a:t>user ID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0CD696-FAF1-00C0-A6DC-B13202F5BB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970" y="2804521"/>
            <a:ext cx="7652657" cy="391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329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987860-CAC0-2A90-DAEB-F9D102777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46ADFE-F074-0131-DD6B-A4996E871E5C}"/>
              </a:ext>
            </a:extLst>
          </p:cNvPr>
          <p:cNvSpPr txBox="1"/>
          <p:nvPr/>
        </p:nvSpPr>
        <p:spPr>
          <a:xfrm>
            <a:off x="4517571" y="0"/>
            <a:ext cx="37254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Dashboard Overview</a:t>
            </a:r>
            <a:endParaRPr lang="en-IN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CA2ADE-71EF-8821-8DBA-5742F1D43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1" y="660975"/>
            <a:ext cx="8014467" cy="495605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4235C82-5BC7-FAE8-3A33-0128FF4A34B9}"/>
              </a:ext>
            </a:extLst>
          </p:cNvPr>
          <p:cNvCxnSpPr>
            <a:cxnSpLocks/>
          </p:cNvCxnSpPr>
          <p:nvPr/>
        </p:nvCxnSpPr>
        <p:spPr>
          <a:xfrm>
            <a:off x="8490857" y="0"/>
            <a:ext cx="0" cy="6858000"/>
          </a:xfrm>
          <a:prstGeom prst="line">
            <a:avLst/>
          </a:prstGeom>
          <a:ln w="57150">
            <a:solidFill>
              <a:srgbClr val="5716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EB1CA82-9B2A-6C76-C75F-ABB656E430BD}"/>
              </a:ext>
            </a:extLst>
          </p:cNvPr>
          <p:cNvSpPr txBox="1"/>
          <p:nvPr/>
        </p:nvSpPr>
        <p:spPr>
          <a:xfrm>
            <a:off x="8588830" y="141511"/>
            <a:ext cx="3102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/>
              <a:t>Key Insight</a:t>
            </a:r>
            <a:endParaRPr lang="en-IN" sz="2000" b="1" u="sng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C0C80BC1-D943-34E8-B545-DFD5E76E8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6532" y="429960"/>
            <a:ext cx="3489268" cy="4763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3,000 learners generated 911.32K revenue through 10,000 transactions.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Science is the most enrolled course category.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Revenue trends remain stable across months.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Gender participation is nearly balanced.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Payment methods are evenly distributed among learners.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small group of instructors contributes the majority of revenue. </a:t>
            </a:r>
          </a:p>
        </p:txBody>
      </p:sp>
    </p:spTree>
    <p:extLst>
      <p:ext uri="{BB962C8B-B14F-4D97-AF65-F5344CB8AC3E}">
        <p14:creationId xmlns:p14="http://schemas.microsoft.com/office/powerpoint/2010/main" val="837931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8000D4-791D-D845-CCBF-146460ED0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BA5011-D712-503E-B8CB-578A44885D95}"/>
              </a:ext>
            </a:extLst>
          </p:cNvPr>
          <p:cNvSpPr txBox="1"/>
          <p:nvPr/>
        </p:nvSpPr>
        <p:spPr>
          <a:xfrm>
            <a:off x="2090061" y="37117"/>
            <a:ext cx="37254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Learner segments</a:t>
            </a:r>
            <a:endParaRPr lang="en-I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21C89E-4F2D-F8D0-E566-9F9C0D998CFD}"/>
              </a:ext>
            </a:extLst>
          </p:cNvPr>
          <p:cNvSpPr txBox="1"/>
          <p:nvPr/>
        </p:nvSpPr>
        <p:spPr>
          <a:xfrm>
            <a:off x="1937657" y="1914553"/>
            <a:ext cx="1004751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Transactions Data (aggregate transaction data on the basis of user ID to calculate Total course enrolled,     </a:t>
            </a:r>
          </a:p>
          <a:p>
            <a:r>
              <a:rPr lang="en-IN" dirty="0"/>
              <a:t>                                 total spending , total transaction per learner)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Learner Profile Creation 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Feature Engineering</a:t>
            </a:r>
          </a:p>
          <a:p>
            <a:r>
              <a:rPr lang="en-IN" dirty="0"/>
              <a:t>(Total Courses, Spending, Preferences)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DAX-Based Segmentation ( Rules  </a:t>
            </a:r>
            <a:r>
              <a:rPr lang="en-US" dirty="0"/>
              <a:t>Learner Profile[TotalCourses] &gt;= 8, "Explorer",</a:t>
            </a:r>
          </a:p>
          <a:p>
            <a:r>
              <a:rPr lang="en-US" dirty="0"/>
              <a:t>                                                Learner_Profile[TotalSpending] &gt;= 500, "Career Focused",</a:t>
            </a:r>
          </a:p>
          <a:p>
            <a:r>
              <a:rPr lang="en-US" dirty="0"/>
              <a:t>                                                Learner_Profile[TotalCourses] &gt;= 3, "Specialist",</a:t>
            </a:r>
          </a:p>
          <a:p>
            <a:r>
              <a:rPr lang="en-US" dirty="0"/>
              <a:t>                                                "Casual Learner“)</a:t>
            </a:r>
          </a:p>
          <a:p>
            <a:r>
              <a:rPr lang="en-US" dirty="0"/>
              <a:t>        </a:t>
            </a:r>
            <a:r>
              <a:rPr lang="en-IN" dirty="0"/>
              <a:t>↓</a:t>
            </a:r>
          </a:p>
          <a:p>
            <a:r>
              <a:rPr lang="en-IN" dirty="0"/>
              <a:t>Casual | Explorer | Specialist | Career Focused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41FE02-EE74-50BC-CD3E-38090205CD0E}"/>
              </a:ext>
            </a:extLst>
          </p:cNvPr>
          <p:cNvSpPr txBox="1"/>
          <p:nvPr/>
        </p:nvSpPr>
        <p:spPr>
          <a:xfrm>
            <a:off x="2090061" y="621892"/>
            <a:ext cx="98951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A learner profile table was created by aggregating user-level enrollment and spending data, enabling behavior analysis and segmentation for personalized course recommendations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C7670F-4F6B-DEBB-203E-5DAC56219975}"/>
              </a:ext>
            </a:extLst>
          </p:cNvPr>
          <p:cNvSpPr txBox="1"/>
          <p:nvPr/>
        </p:nvSpPr>
        <p:spPr>
          <a:xfrm>
            <a:off x="1937657" y="1413497"/>
            <a:ext cx="3725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Process Followed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77234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1D023D-C9C1-7274-0826-6FC28026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5C422D-03F0-1899-7D13-520AC7962D45}"/>
              </a:ext>
            </a:extLst>
          </p:cNvPr>
          <p:cNvSpPr txBox="1"/>
          <p:nvPr/>
        </p:nvSpPr>
        <p:spPr>
          <a:xfrm>
            <a:off x="2547260" y="0"/>
            <a:ext cx="50400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Learner profile dashboard</a:t>
            </a:r>
            <a:endParaRPr lang="en-IN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67F915-483D-9C83-C6F1-04F776F37F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62" y="1085518"/>
            <a:ext cx="7693695" cy="498871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DD8DD7-FB74-015B-272F-2924B9BF8E68}"/>
              </a:ext>
            </a:extLst>
          </p:cNvPr>
          <p:cNvCxnSpPr>
            <a:cxnSpLocks/>
          </p:cNvCxnSpPr>
          <p:nvPr/>
        </p:nvCxnSpPr>
        <p:spPr>
          <a:xfrm>
            <a:off x="8164286" y="0"/>
            <a:ext cx="0" cy="6858000"/>
          </a:xfrm>
          <a:prstGeom prst="line">
            <a:avLst/>
          </a:prstGeom>
          <a:ln w="57150">
            <a:solidFill>
              <a:srgbClr val="5716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34DBE26-06B4-722F-07CC-36CE5E504990}"/>
              </a:ext>
            </a:extLst>
          </p:cNvPr>
          <p:cNvSpPr txBox="1"/>
          <p:nvPr/>
        </p:nvSpPr>
        <p:spPr>
          <a:xfrm>
            <a:off x="8294916" y="92332"/>
            <a:ext cx="3102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/>
              <a:t>Key Insight</a:t>
            </a:r>
            <a:endParaRPr lang="en-IN" sz="2000" b="1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927B96-6C30-468E-13E6-2805322A7321}"/>
              </a:ext>
            </a:extLst>
          </p:cNvPr>
          <p:cNvSpPr txBox="1"/>
          <p:nvPr/>
        </p:nvSpPr>
        <p:spPr>
          <a:xfrm>
            <a:off x="8164286" y="492442"/>
            <a:ext cx="3929742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 Learner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Casual Learners represent 73.33% of the    </a:t>
            </a:r>
          </a:p>
          <a:p>
            <a:r>
              <a:rPr lang="en-US" sz="1600" dirty="0"/>
              <a:t>   learner base (2200 users).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Explorers account for 15.13% of learners </a:t>
            </a:r>
          </a:p>
          <a:p>
            <a:r>
              <a:rPr lang="en-US" sz="1600" dirty="0"/>
              <a:t>  (454 users).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Specialists represent 8.47% of learners    </a:t>
            </a:r>
          </a:p>
          <a:p>
            <a:r>
              <a:rPr lang="en-US" sz="1600" dirty="0"/>
              <a:t>  (254users).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Career Focused learners form only 3.07% of </a:t>
            </a:r>
          </a:p>
          <a:p>
            <a:r>
              <a:rPr lang="en-US" sz="1600" dirty="0"/>
              <a:t>  the population (92 users).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9129D2-1046-4705-5622-D389BBEC1FCC}"/>
              </a:ext>
            </a:extLst>
          </p:cNvPr>
          <p:cNvSpPr txBox="1"/>
          <p:nvPr/>
        </p:nvSpPr>
        <p:spPr>
          <a:xfrm>
            <a:off x="8164286" y="2880247"/>
            <a:ext cx="379910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Explorers show </a:t>
            </a:r>
            <a:r>
              <a:rPr lang="en-US" sz="1600" dirty="0">
                <a:solidFill>
                  <a:srgbClr val="571674"/>
                </a:solidFill>
              </a:rPr>
              <a:t>the </a:t>
            </a:r>
            <a:r>
              <a:rPr lang="en-US" sz="1600" b="1" dirty="0">
                <a:solidFill>
                  <a:srgbClr val="571674"/>
                </a:solidFill>
              </a:rPr>
              <a:t>highest average courses per learner</a:t>
            </a:r>
            <a:r>
              <a:rPr lang="en-US" sz="1600" dirty="0"/>
              <a:t>, making them the most engaged segment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1AD09B-D2C2-3E11-05FF-6670D4F25DDB}"/>
              </a:ext>
            </a:extLst>
          </p:cNvPr>
          <p:cNvSpPr txBox="1"/>
          <p:nvPr/>
        </p:nvSpPr>
        <p:spPr>
          <a:xfrm>
            <a:off x="8164301" y="3803577"/>
            <a:ext cx="37990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Gender distribution remains relatively balanced across all learner segments.</a:t>
            </a:r>
            <a:endParaRPr lang="en-IN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2CE33A-7C2B-25A6-71EB-3A050AA7854D}"/>
              </a:ext>
            </a:extLst>
          </p:cNvPr>
          <p:cNvSpPr txBox="1"/>
          <p:nvPr/>
        </p:nvSpPr>
        <p:spPr>
          <a:xfrm>
            <a:off x="8164286" y="4449908"/>
            <a:ext cx="39297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The </a:t>
            </a:r>
            <a:r>
              <a:rPr lang="en-US" sz="1600" b="1" dirty="0">
                <a:solidFill>
                  <a:srgbClr val="571674"/>
                </a:solidFill>
              </a:rPr>
              <a:t>21–30 age group contains the largest proportion of learners</a:t>
            </a:r>
            <a:r>
              <a:rPr lang="en-US" sz="1600" dirty="0">
                <a:solidFill>
                  <a:srgbClr val="571674"/>
                </a:solidFill>
              </a:rPr>
              <a:t>.</a:t>
            </a:r>
            <a:endParaRPr lang="en-IN" sz="1600" dirty="0">
              <a:solidFill>
                <a:srgbClr val="571674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EB330B-A3DD-8EB9-907E-270BAA945BE6}"/>
              </a:ext>
            </a:extLst>
          </p:cNvPr>
          <p:cNvSpPr txBox="1"/>
          <p:nvPr/>
        </p:nvSpPr>
        <p:spPr>
          <a:xfrm>
            <a:off x="8164272" y="49910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Business Recommendations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57AF80-7352-09E0-4D70-5C70BE54CC3A}"/>
              </a:ext>
            </a:extLst>
          </p:cNvPr>
          <p:cNvSpPr txBox="1"/>
          <p:nvPr/>
        </p:nvSpPr>
        <p:spPr>
          <a:xfrm>
            <a:off x="8164272" y="5391162"/>
            <a:ext cx="3929755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Use personalized recommendations to increase engagement.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For specialist Offer advanced and certification-based courses.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3354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2141F5-1F34-BC26-F0B2-DD1937C73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40FD47-A920-4CE7-ABA0-A7BA97157B04}"/>
              </a:ext>
            </a:extLst>
          </p:cNvPr>
          <p:cNvSpPr txBox="1"/>
          <p:nvPr/>
        </p:nvSpPr>
        <p:spPr>
          <a:xfrm>
            <a:off x="2090060" y="37117"/>
            <a:ext cx="90351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Personalized Course Recommendation 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F1DE2D-BD83-558C-198E-C9C634869D31}"/>
              </a:ext>
            </a:extLst>
          </p:cNvPr>
          <p:cNvSpPr txBox="1"/>
          <p:nvPr/>
        </p:nvSpPr>
        <p:spPr>
          <a:xfrm>
            <a:off x="2090059" y="621892"/>
            <a:ext cx="90351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Overview</a:t>
            </a:r>
            <a:endParaRPr lang="en-IN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F47F58-7520-49A6-9022-3A2AC9DDE081}"/>
              </a:ext>
            </a:extLst>
          </p:cNvPr>
          <p:cNvSpPr txBox="1"/>
          <p:nvPr/>
        </p:nvSpPr>
        <p:spPr>
          <a:xfrm>
            <a:off x="2090058" y="1006612"/>
            <a:ext cx="9949542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Personalized Recommendation Dashboard is designed for existing learners. It analyzes a learner's historical learning behavior and segment membership to recommend courses aligned with their interests and learning goals.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DDC852-D041-A3C4-9084-839DBC776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296319"/>
            <a:ext cx="8175171" cy="4518403"/>
          </a:xfrm>
          <a:prstGeom prst="rect">
            <a:avLst/>
          </a:prstGeom>
          <a:ln w="12700">
            <a:solidFill>
              <a:srgbClr val="571674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9FD19A-11B8-AA7A-2368-2AACE28A3DBD}"/>
              </a:ext>
            </a:extLst>
          </p:cNvPr>
          <p:cNvSpPr txBox="1"/>
          <p:nvPr/>
        </p:nvSpPr>
        <p:spPr>
          <a:xfrm>
            <a:off x="8327571" y="2002568"/>
            <a:ext cx="3712029" cy="485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/>
              <a:t>How It Works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/>
              <a:t>Step 1: User Selection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/>
              <a:t>A learner is selected using the </a:t>
            </a:r>
            <a:r>
              <a:rPr lang="en-US" sz="1600" dirty="0" err="1"/>
              <a:t>UserID</a:t>
            </a:r>
            <a:r>
              <a:rPr lang="en-US" sz="1600" dirty="0"/>
              <a:t> slicer.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/>
              <a:t>Step 2: Learner Profile Analysis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/>
              <a:t>The system evaluates: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Total Courses Completed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Learning Investment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Learner Segment 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/>
              <a:t>Step 3: Recommendation Generation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/>
              <a:t>Based on the learner's segment, suitable courses are recommended to support future learning and engagement.</a:t>
            </a:r>
          </a:p>
        </p:txBody>
      </p:sp>
    </p:spTree>
    <p:extLst>
      <p:ext uri="{BB962C8B-B14F-4D97-AF65-F5344CB8AC3E}">
        <p14:creationId xmlns:p14="http://schemas.microsoft.com/office/powerpoint/2010/main" val="183757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89E08-2BE7-FA1A-4147-99C74F45B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E93FA4-6902-3976-08DA-8D4FB7844CF6}"/>
              </a:ext>
            </a:extLst>
          </p:cNvPr>
          <p:cNvSpPr txBox="1"/>
          <p:nvPr/>
        </p:nvSpPr>
        <p:spPr>
          <a:xfrm>
            <a:off x="2264229" y="127844"/>
            <a:ext cx="9503228" cy="6697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Key Metrics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Learning Persona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Displays the learner's segment: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Casual Learner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Explorer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Specialist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Career Focused 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Courses Completed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Shows learner engagement level.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Learning Investment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Represents the total amount spent on learning activities.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Business Value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Improves learner engagement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Supports personalized learning paths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Increases course discovery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Enhances learner retention </a:t>
            </a:r>
          </a:p>
        </p:txBody>
      </p:sp>
    </p:spTree>
    <p:extLst>
      <p:ext uri="{BB962C8B-B14F-4D97-AF65-F5344CB8AC3E}">
        <p14:creationId xmlns:p14="http://schemas.microsoft.com/office/powerpoint/2010/main" val="2860566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F3A5B-8864-376C-B6FF-5A102AA53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9E3836-CB3A-E0F6-D4F6-BC842878CBAD}"/>
              </a:ext>
            </a:extLst>
          </p:cNvPr>
          <p:cNvSpPr txBox="1"/>
          <p:nvPr/>
        </p:nvSpPr>
        <p:spPr>
          <a:xfrm>
            <a:off x="2046515" y="98363"/>
            <a:ext cx="98189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Course Discovery and Recommendation for New Users</a:t>
            </a:r>
            <a:endParaRPr lang="en-I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31826B-0EFC-9E94-861B-3F7BA4FC53BE}"/>
              </a:ext>
            </a:extLst>
          </p:cNvPr>
          <p:cNvSpPr txBox="1"/>
          <p:nvPr/>
        </p:nvSpPr>
        <p:spPr>
          <a:xfrm>
            <a:off x="2046515" y="791997"/>
            <a:ext cx="90351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Overview</a:t>
            </a:r>
            <a:endParaRPr lang="en-IN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FDA98E-6AF5-ABF9-4B03-E5813CC37AD3}"/>
              </a:ext>
            </a:extLst>
          </p:cNvPr>
          <p:cNvSpPr txBox="1"/>
          <p:nvPr/>
        </p:nvSpPr>
        <p:spPr>
          <a:xfrm>
            <a:off x="2046515" y="992052"/>
            <a:ext cx="1053737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dirty="0"/>
              <a:t>This dashboard is designed for new learners who do not yet have enrollment history.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dirty="0"/>
              <a:t>Instead of using past behavior, recommendations are generated based on learner-selected preferences.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92710C-BE10-4533-3A60-0357B5FCBA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7" y="2181336"/>
            <a:ext cx="8042824" cy="44262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03D475-1EB5-4174-BCBF-E7C4D3A209FD}"/>
              </a:ext>
            </a:extLst>
          </p:cNvPr>
          <p:cNvSpPr txBox="1"/>
          <p:nvPr/>
        </p:nvSpPr>
        <p:spPr>
          <a:xfrm>
            <a:off x="8327571" y="2002568"/>
            <a:ext cx="3537857" cy="4757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/>
              <a:t>How It Works</a:t>
            </a:r>
          </a:p>
          <a:p>
            <a:r>
              <a:rPr lang="en-US" sz="1600" b="1" dirty="0"/>
              <a:t>Step 1: Select Course Category</a:t>
            </a:r>
          </a:p>
          <a:p>
            <a:r>
              <a:rPr lang="en-US" sz="1600" dirty="0"/>
              <a:t>Learners choose their area of interest.</a:t>
            </a:r>
          </a:p>
          <a:p>
            <a:r>
              <a:rPr lang="en-US" sz="1600" dirty="0"/>
              <a:t>Examples:</a:t>
            </a:r>
          </a:p>
          <a:p>
            <a:r>
              <a:rPr lang="en-US" sz="1600" dirty="0"/>
              <a:t>Data Science </a:t>
            </a:r>
          </a:p>
          <a:p>
            <a:r>
              <a:rPr lang="en-US" sz="1600" dirty="0"/>
              <a:t>Artificial Intelligence </a:t>
            </a:r>
          </a:p>
          <a:p>
            <a:r>
              <a:rPr lang="en-US" sz="1600" dirty="0"/>
              <a:t>Business </a:t>
            </a:r>
          </a:p>
          <a:p>
            <a:r>
              <a:rPr lang="en-US" sz="1600" dirty="0"/>
              <a:t>Marketing </a:t>
            </a:r>
          </a:p>
          <a:p>
            <a:r>
              <a:rPr lang="en-US" sz="1600" b="1" dirty="0"/>
              <a:t>Step 2: Select Course Level</a:t>
            </a:r>
          </a:p>
          <a:p>
            <a:r>
              <a:rPr lang="en-US" sz="1600" dirty="0"/>
              <a:t>Learners choose:</a:t>
            </a:r>
          </a:p>
          <a:p>
            <a:r>
              <a:rPr lang="en-US" sz="1600" dirty="0"/>
              <a:t>Beginner </a:t>
            </a:r>
          </a:p>
          <a:p>
            <a:r>
              <a:rPr lang="en-US" sz="1600" dirty="0"/>
              <a:t>Intermediate </a:t>
            </a:r>
          </a:p>
          <a:p>
            <a:r>
              <a:rPr lang="en-US" sz="1600" dirty="0"/>
              <a:t>Advanced </a:t>
            </a:r>
          </a:p>
          <a:p>
            <a:r>
              <a:rPr lang="en-US" sz="1600" b="1" dirty="0"/>
              <a:t>Step 3: View Recommended Courses</a:t>
            </a:r>
          </a:p>
          <a:p>
            <a:r>
              <a:rPr lang="en-US" sz="1600" dirty="0"/>
              <a:t>The dashboard dynamically displays courses matching the selected preferences.</a:t>
            </a:r>
          </a:p>
          <a:p>
            <a:pPr>
              <a:lnSpc>
                <a:spcPct val="150000"/>
              </a:lnSpc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910387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C6C895-A027-EA21-2EA6-372A5EFBA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37E1F0-08C1-03C1-2DC8-211CC7B157F4}"/>
              </a:ext>
            </a:extLst>
          </p:cNvPr>
          <p:cNvSpPr txBox="1"/>
          <p:nvPr/>
        </p:nvSpPr>
        <p:spPr>
          <a:xfrm>
            <a:off x="2046515" y="98363"/>
            <a:ext cx="98189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Business Recommendation and Future Enhancements</a:t>
            </a:r>
            <a:endParaRPr lang="en-I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9238DC-B330-A9E6-2954-97C6EBAD7FBB}"/>
              </a:ext>
            </a:extLst>
          </p:cNvPr>
          <p:cNvSpPr txBox="1"/>
          <p:nvPr/>
        </p:nvSpPr>
        <p:spPr>
          <a:xfrm>
            <a:off x="2046514" y="683139"/>
            <a:ext cx="9905999" cy="23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/>
              <a:t>Recommendation 1: Increase Casual Learner Engagement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Casual Learners represent the largest learner segment (73%+).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Introduce beginner-friendly learning paths.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Send personalized course recommendations.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Use email campaigns and learning reminders. 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/>
              <a:t>Expected Outcome:</a:t>
            </a:r>
            <a:r>
              <a:rPr lang="en-US" sz="1600" dirty="0"/>
              <a:t> Higher course enrollments and improved retention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57C9A0-FCF2-EC36-CCEE-B3C89CA3788B}"/>
              </a:ext>
            </a:extLst>
          </p:cNvPr>
          <p:cNvSpPr txBox="1"/>
          <p:nvPr/>
        </p:nvSpPr>
        <p:spPr>
          <a:xfrm>
            <a:off x="1948543" y="2994669"/>
            <a:ext cx="10003970" cy="1900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/>
              <a:t>Recommendation 2: Expand High-Demand Categories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Data Science, Finance, and Web Development show strong enrollment demand.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Launch additional courses in these categories.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Develop structured learning pathways. 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/>
              <a:t>Expected Outcome:</a:t>
            </a:r>
            <a:r>
              <a:rPr lang="en-US" sz="1600" dirty="0"/>
              <a:t> Increased learner satisfaction and revenue growth.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97DBC0-E080-25C5-993E-817CE93DAE63}"/>
              </a:ext>
            </a:extLst>
          </p:cNvPr>
          <p:cNvSpPr txBox="1"/>
          <p:nvPr/>
        </p:nvSpPr>
        <p:spPr>
          <a:xfrm>
            <a:off x="1948543" y="4826675"/>
            <a:ext cx="6096000" cy="1529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b="1" dirty="0"/>
              <a:t>Future Enhancements</a:t>
            </a:r>
          </a:p>
          <a:p>
            <a:pPr>
              <a:lnSpc>
                <a:spcPct val="150000"/>
              </a:lnSpc>
              <a:buNone/>
            </a:pPr>
            <a:r>
              <a:rPr lang="en-IN" sz="1600" dirty="0"/>
              <a:t>✔ Machine Learning-Based Recommendation Engine</a:t>
            </a:r>
          </a:p>
          <a:p>
            <a:pPr>
              <a:lnSpc>
                <a:spcPct val="150000"/>
              </a:lnSpc>
              <a:buNone/>
            </a:pPr>
            <a:r>
              <a:rPr lang="en-IN" sz="1600" dirty="0"/>
              <a:t>✔ Real-Time Learner Behaviour Tracking</a:t>
            </a:r>
          </a:p>
          <a:p>
            <a:pPr>
              <a:lnSpc>
                <a:spcPct val="150000"/>
              </a:lnSpc>
              <a:buNone/>
            </a:pPr>
            <a:r>
              <a:rPr lang="en-IN" sz="1600" dirty="0"/>
              <a:t>✔ Web Application Deployment (Power BI Service / </a:t>
            </a:r>
            <a:r>
              <a:rPr lang="en-IN" sz="1600" dirty="0" err="1"/>
              <a:t>Streamlit</a:t>
            </a:r>
            <a:r>
              <a:rPr lang="en-IN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98999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C513A-AF1E-57C8-94D2-807F54CE1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A5B771-8310-0166-E678-0583E8A0D84B}"/>
              </a:ext>
            </a:extLst>
          </p:cNvPr>
          <p:cNvSpPr txBox="1"/>
          <p:nvPr/>
        </p:nvSpPr>
        <p:spPr>
          <a:xfrm>
            <a:off x="2046515" y="98363"/>
            <a:ext cx="98189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Conclusion</a:t>
            </a:r>
            <a:endParaRPr lang="en-I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97B6BE-3819-602C-98A4-137DC2B9585B}"/>
              </a:ext>
            </a:extLst>
          </p:cNvPr>
          <p:cNvSpPr txBox="1"/>
          <p:nvPr/>
        </p:nvSpPr>
        <p:spPr>
          <a:xfrm>
            <a:off x="2046515" y="683138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Project Successfully:</a:t>
            </a:r>
          </a:p>
          <a:p>
            <a:endParaRPr lang="en-IN" dirty="0"/>
          </a:p>
          <a:p>
            <a:r>
              <a:rPr lang="en-IN" dirty="0"/>
              <a:t>✔ Segmented Learners</a:t>
            </a:r>
          </a:p>
          <a:p>
            <a:endParaRPr lang="en-IN" dirty="0"/>
          </a:p>
          <a:p>
            <a:r>
              <a:rPr lang="en-IN" dirty="0"/>
              <a:t>✔ Identified Behaviour Patterns</a:t>
            </a:r>
          </a:p>
          <a:p>
            <a:endParaRPr lang="en-IN" dirty="0"/>
          </a:p>
          <a:p>
            <a:r>
              <a:rPr lang="en-IN" dirty="0"/>
              <a:t>✔ Built Recommendation Framework</a:t>
            </a:r>
          </a:p>
          <a:p>
            <a:endParaRPr lang="en-IN" dirty="0"/>
          </a:p>
          <a:p>
            <a:r>
              <a:rPr lang="en-IN" dirty="0"/>
              <a:t>✔ Improved Personalization Strategy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9830CD-2CBD-E9FB-178D-ED4EA78149B5}"/>
              </a:ext>
            </a:extLst>
          </p:cNvPr>
          <p:cNvSpPr txBox="1"/>
          <p:nvPr/>
        </p:nvSpPr>
        <p:spPr>
          <a:xfrm>
            <a:off x="2351315" y="552853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Thank You</a:t>
            </a:r>
          </a:p>
          <a:p>
            <a:r>
              <a:rPr lang="en-IN" dirty="0"/>
              <a:t>Khushbu Sahu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CF71B6-F899-0DFA-6EBD-DB767D5068D4}"/>
              </a:ext>
            </a:extLst>
          </p:cNvPr>
          <p:cNvSpPr txBox="1"/>
          <p:nvPr/>
        </p:nvSpPr>
        <p:spPr>
          <a:xfrm>
            <a:off x="2046515" y="32712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71674"/>
                </a:solidFill>
              </a:rPr>
              <a:t>Why Power BI Was Used for This Project</a:t>
            </a:r>
            <a:r>
              <a:rPr lang="en-US" dirty="0"/>
              <a:t>?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43C7DE-50DB-605A-2C64-45E0317A2DAA}"/>
              </a:ext>
            </a:extLst>
          </p:cNvPr>
          <p:cNvSpPr txBox="1"/>
          <p:nvPr/>
        </p:nvSpPr>
        <p:spPr>
          <a:xfrm>
            <a:off x="2046515" y="3640540"/>
            <a:ext cx="9818912" cy="792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Power BI was chosen because it provides powerful data modeling, DAX-based analytics, interactive dashboards, and dynamic recommendation capabilities, making it an ideal tool for learner segmentation and educational analytics.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73767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Presentation1</Template>
  <TotalTime>826</TotalTime>
  <Words>1054</Words>
  <Application>Microsoft Office PowerPoint</Application>
  <PresentationFormat>Widescreen</PresentationFormat>
  <Paragraphs>181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27</cp:revision>
  <dcterms:created xsi:type="dcterms:W3CDTF">2026-06-22T12:47:30Z</dcterms:created>
  <dcterms:modified xsi:type="dcterms:W3CDTF">2026-06-23T17:10:05Z</dcterms:modified>
</cp:coreProperties>
</file>